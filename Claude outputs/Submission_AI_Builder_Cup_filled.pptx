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media/image3.jpg" ContentType="image/jpg"/>
  <Override PartName="/ppt/media/image5.jpg" ContentType="image/jpg"/>
  <Override PartName="/ppt/media/image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093562"/>
            <a:ext cx="9143999" cy="4993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3999" cy="5073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5071874"/>
            <a:ext cx="9144000" cy="71755"/>
          </a:xfrm>
          <a:custGeom>
            <a:avLst/>
            <a:gdLst/>
            <a:ahLst/>
            <a:cxnLst/>
            <a:rect l="l" t="t" r="r" b="b"/>
            <a:pathLst>
              <a:path w="9144000" h="71754">
                <a:moveTo>
                  <a:pt x="0" y="0"/>
                </a:moveTo>
                <a:lnTo>
                  <a:pt x="9143999" y="0"/>
                </a:lnTo>
                <a:lnTo>
                  <a:pt x="9143999" y="71625"/>
                </a:lnTo>
                <a:lnTo>
                  <a:pt x="0" y="71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8375" y="728722"/>
            <a:ext cx="1971039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9143999" cy="2715525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19625" y="2965050"/>
            <a:ext cx="2988310" cy="144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0" b="1">
                <a:latin typeface="Century Gothic"/>
                <a:cs typeface="Century Gothic"/>
              </a:rPr>
              <a:t>Team</a:t>
            </a:r>
            <a:r>
              <a:rPr dirty="0" sz="2100" spc="-110" b="1">
                <a:latin typeface="Century Gothic"/>
                <a:cs typeface="Century Gothic"/>
              </a:rPr>
              <a:t> </a:t>
            </a:r>
            <a:r>
              <a:rPr dirty="0" sz="2100" spc="-10" b="1">
                <a:latin typeface="Century Gothic"/>
                <a:cs typeface="Century Gothic"/>
              </a:rPr>
              <a:t>Details</a:t>
            </a:r>
            <a:endParaRPr sz="2100">
              <a:latin typeface="Century Gothic"/>
              <a:cs typeface="Century Gothic"/>
            </a:endParaRPr>
          </a:p>
          <a:p>
            <a:pPr marL="926465" indent="-405130">
              <a:lnSpc>
                <a:spcPct val="100000"/>
              </a:lnSpc>
              <a:spcBef>
                <a:spcPts val="2170"/>
              </a:spcBef>
              <a:buAutoNum type="alphaLcPeriod"/>
              <a:tabLst>
                <a:tab pos="926465" algn="l"/>
              </a:tabLst>
            </a:pPr>
            <a:r>
              <a:rPr dirty="0" sz="1800" spc="-40">
                <a:latin typeface="Tahoma"/>
                <a:cs typeface="Tahoma"/>
              </a:rPr>
              <a:t>Team</a:t>
            </a:r>
            <a:r>
              <a:rPr dirty="0" sz="1800" spc="-1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name:</a:t>
            </a:r>
            <a:endParaRPr sz="1800">
              <a:latin typeface="Tahoma"/>
              <a:cs typeface="Tahoma"/>
            </a:endParaRPr>
          </a:p>
          <a:p>
            <a:pPr marL="926465" indent="-417195">
              <a:lnSpc>
                <a:spcPct val="100000"/>
              </a:lnSpc>
              <a:buAutoNum type="alphaLcPeriod"/>
              <a:tabLst>
                <a:tab pos="926465" algn="l"/>
              </a:tabLst>
            </a:pPr>
            <a:r>
              <a:rPr dirty="0" sz="1800" spc="-40">
                <a:latin typeface="Tahoma"/>
                <a:cs typeface="Tahoma"/>
              </a:rPr>
              <a:t>Team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leader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name:</a:t>
            </a:r>
            <a:endParaRPr sz="1800">
              <a:latin typeface="Tahoma"/>
              <a:cs typeface="Tahoma"/>
            </a:endParaRPr>
          </a:p>
          <a:p>
            <a:pPr marL="926465" indent="-406400">
              <a:lnSpc>
                <a:spcPct val="100000"/>
              </a:lnSpc>
              <a:buAutoNum type="alphaLcPeriod"/>
              <a:tabLst>
                <a:tab pos="926465" algn="l"/>
              </a:tabLst>
            </a:pPr>
            <a:r>
              <a:rPr dirty="0" sz="1800">
                <a:latin typeface="Tahoma"/>
                <a:cs typeface="Tahoma"/>
              </a:rPr>
              <a:t>Problem</a:t>
            </a:r>
            <a:r>
              <a:rPr dirty="0" sz="1800" spc="10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Statement: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093562"/>
            <a:ext cx="9143999" cy="499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65500" y="2036187"/>
            <a:ext cx="2990215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4460">
              <a:lnSpc>
                <a:spcPct val="100000"/>
              </a:lnSpc>
              <a:spcBef>
                <a:spcPts val="100"/>
              </a:spcBef>
            </a:pPr>
            <a:r>
              <a:rPr dirty="0" sz="1100" spc="-75">
                <a:solidFill>
                  <a:srgbClr val="FFFFFF"/>
                </a:solidFill>
                <a:latin typeface="Verdana"/>
                <a:cs typeface="Verdana"/>
              </a:rPr>
              <a:t>Note:</a:t>
            </a:r>
            <a:r>
              <a:rPr dirty="0" sz="11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Please</a:t>
            </a:r>
            <a:r>
              <a:rPr dirty="0" sz="11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download</a:t>
            </a:r>
            <a:r>
              <a:rPr dirty="0" sz="11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dirty="0" sz="11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template</a:t>
            </a:r>
            <a:r>
              <a:rPr dirty="0" sz="11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1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make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edits</a:t>
            </a:r>
            <a:r>
              <a:rPr dirty="0" sz="11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1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submit</a:t>
            </a:r>
            <a:r>
              <a:rPr dirty="0" sz="11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1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ﬁnal</a:t>
            </a:r>
            <a:r>
              <a:rPr dirty="0" sz="11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version.</a:t>
            </a:r>
            <a:endParaRPr sz="11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  <a:spcBef>
                <a:spcPts val="1320"/>
              </a:spcBef>
            </a:pPr>
            <a:r>
              <a:rPr dirty="0" sz="1100" spc="-55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Tahoma"/>
                <a:cs typeface="Tahoma"/>
              </a:rPr>
              <a:t>download,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FFFFFF"/>
                </a:solidFill>
                <a:latin typeface="Tahoma"/>
                <a:cs typeface="Tahoma"/>
              </a:rPr>
              <a:t>go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4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5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95">
                <a:solidFill>
                  <a:srgbClr val="FFFFFF"/>
                </a:solidFill>
                <a:latin typeface="Tahoma"/>
                <a:cs typeface="Tahoma"/>
              </a:rPr>
              <a:t>&gt;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FFFFFF"/>
                </a:solidFill>
                <a:latin typeface="Tahoma"/>
                <a:cs typeface="Tahoma"/>
              </a:rPr>
              <a:t>Download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95">
                <a:solidFill>
                  <a:srgbClr val="FFFFFF"/>
                </a:solidFill>
                <a:latin typeface="Tahoma"/>
                <a:cs typeface="Tahoma"/>
              </a:rPr>
              <a:t>&gt;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FFFFFF"/>
                </a:solidFill>
                <a:latin typeface="Tahoma"/>
                <a:cs typeface="Tahoma"/>
              </a:rPr>
              <a:t>Microsoft</a:t>
            </a:r>
            <a:r>
              <a:rPr dirty="0" sz="11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15">
                <a:solidFill>
                  <a:srgbClr val="FFFFFF"/>
                </a:solidFill>
                <a:latin typeface="Tahoma"/>
                <a:cs typeface="Tahoma"/>
              </a:rPr>
              <a:t>PowerPoint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(.PPTX).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Tahoma"/>
                <a:cs typeface="Tahoma"/>
              </a:rPr>
              <a:t>Kindly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Tahoma"/>
                <a:cs typeface="Tahoma"/>
              </a:rPr>
              <a:t>refrain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FFFFFF"/>
                </a:solidFill>
                <a:latin typeface="Tahoma"/>
                <a:cs typeface="Tahoma"/>
              </a:rPr>
              <a:t>sending</a:t>
            </a:r>
            <a:r>
              <a:rPr dirty="0" sz="11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FFFFFF"/>
                </a:solidFill>
                <a:latin typeface="Tahoma"/>
                <a:cs typeface="Tahoma"/>
              </a:rPr>
              <a:t>edit</a:t>
            </a:r>
            <a:r>
              <a:rPr dirty="0" sz="1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15">
                <a:solidFill>
                  <a:srgbClr val="FFFFFF"/>
                </a:solidFill>
                <a:latin typeface="Tahoma"/>
                <a:cs typeface="Tahoma"/>
              </a:rPr>
              <a:t>requests.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42175"/>
            <a:ext cx="5500370" cy="4565015"/>
            <a:chOff x="0" y="242175"/>
            <a:chExt cx="5500370" cy="4565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42175"/>
              <a:ext cx="5500003" cy="45648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202" y="1194675"/>
              <a:ext cx="3604250" cy="2621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073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8375" y="728722"/>
            <a:ext cx="18827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5">
                <a:latin typeface="Verdana"/>
                <a:cs typeface="Verdana"/>
              </a:rPr>
              <a:t>Brief</a:t>
            </a:r>
            <a:r>
              <a:rPr dirty="0" sz="1600" spc="-185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about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65">
                <a:latin typeface="Verdana"/>
                <a:cs typeface="Verdana"/>
              </a:rPr>
              <a:t>the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idea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5071874"/>
            <a:ext cx="9144000" cy="71755"/>
          </a:xfrm>
          <a:custGeom>
            <a:avLst/>
            <a:gdLst/>
            <a:ahLst/>
            <a:cxnLst/>
            <a:rect l="l" t="t" r="r" b="b"/>
            <a:pathLst>
              <a:path w="9144000" h="71754">
                <a:moveTo>
                  <a:pt x="0" y="0"/>
                </a:moveTo>
                <a:lnTo>
                  <a:pt x="9143999" y="0"/>
                </a:lnTo>
                <a:lnTo>
                  <a:pt x="9143999" y="71625"/>
                </a:lnTo>
                <a:lnTo>
                  <a:pt x="0" y="71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38328" y="1078992"/>
            <a:ext cx="507492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47857"/>
                </a:solidFill>
                <a:latin typeface="Arial"/>
              </a:rPr>
              <a:t>Experience More Bali 2027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57534E"/>
                </a:solidFill>
                <a:latin typeface="Arial"/>
              </a:rPr>
              <a:t>An AI-powered tourism ecosystem on KOSSI Adventure (Indonesia Tourism Initiative): one shared platform with two front doors.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783080"/>
            <a:ext cx="5074920" cy="3108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marL="146304" indent="-118872">
              <a:spcAft>
                <a:spcPts val="6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Travelers </a:t>
            </a:r>
            <a:r>
              <a:rPr sz="1050" b="0">
                <a:solidFill>
                  <a:srgbClr val="1C1917"/>
                </a:solidFill>
                <a:latin typeface="Arial"/>
              </a:rPr>
              <a:t>choose, they don’t type: tap Bali regions and experiences, get a ready basket of local partners, and Gemini arranges the days on a Bali map with real driving times and warnings.</a:t>
            </a:r>
          </a:p>
          <a:p>
            <a:pPr marL="146304" indent="-118872">
              <a:spcAft>
                <a:spcPts val="6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Partners </a:t>
            </a:r>
            <a:r>
              <a:rPr sz="1050" b="0">
                <a:solidFill>
                  <a:srgbClr val="1C1917"/>
                </a:solidFill>
                <a:latin typeface="Arial"/>
              </a:rPr>
              <a:t>(desa wisata, warung, homestays, guides) sign up in a minute, answer tap menus about their business and digital channels, and get an AI support plan plus grounded marketing copy.</a:t>
            </a:r>
          </a:p>
          <a:p>
            <a:pPr marL="146304" indent="-118872">
              <a:spcAft>
                <a:spcPts val="6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Memory objects </a:t>
            </a:r>
            <a:r>
              <a:rPr sz="1050" b="0">
                <a:solidFill>
                  <a:srgbClr val="1C1917"/>
                </a:solidFill>
                <a:latin typeface="Arial"/>
              </a:rPr>
              <a:t>connect offline and online: every family and partner gets a sticker, printed on T-shirts, hats and bags with a QR code that opens their trip memory page.</a:t>
            </a:r>
          </a:p>
          <a:p>
            <a:pPr marL="146304" indent="-118872">
              <a:spcAft>
                <a:spcPts val="6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Trust built in: </a:t>
            </a:r>
            <a:r>
              <a:rPr sz="1050" b="0">
                <a:solidFill>
                  <a:srgbClr val="1C1917"/>
                </a:solidFill>
                <a:latin typeface="Arial"/>
              </a:rPr>
              <a:t>AI answers are grounded in partner facts and schema-validated, and the KOSSI team verifies partners in batches before the ✓ badge appears.</a:t>
            </a:r>
          </a:p>
        </p:txBody>
      </p:sp>
      <p:pic>
        <p:nvPicPr>
          <p:cNvPr id="7" name="Picture 6" descr="12-mobile-mem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078992"/>
            <a:ext cx="1775260" cy="3840480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662672" y="1143000"/>
            <a:ext cx="114300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047857"/>
                </a:solidFill>
                <a:latin typeface="Arial"/>
              </a:rPr>
              <a:t>Scan a QR on a T-shirt →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57534E"/>
                </a:solidFill>
                <a:latin typeface="Arial"/>
              </a:rPr>
              <a:t>the family’s trip memory page opens on any phone, no app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Century Gothic"/>
                <a:cs typeface="Century Gothic"/>
              </a:rPr>
              <a:t>Opportunities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" y="1143000"/>
            <a:ext cx="2697480" cy="3017520"/>
          </a:xfrm>
          <a:prstGeom prst="roundRect">
            <a:avLst>
              <a:gd name="adj" fmla="val 2711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48056" y="1234440"/>
            <a:ext cx="2478024" cy="285292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47857"/>
                </a:solidFill>
                <a:latin typeface="Arial"/>
              </a:rPr>
              <a:t>How it is different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Booking sites sell big hotels; we route travelers to small local businesses and give those businesses AI tools they don’t have.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Planning by tapping, not typing: regions → experiences → basket → days.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Phygital: a printed sticker / T-shirt with QR links the trip back online.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Partners are verified by the KOSSI team, not just self-listed.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27832" y="1143000"/>
            <a:ext cx="2697480" cy="3017520"/>
          </a:xfrm>
          <a:prstGeom prst="roundRect">
            <a:avLst>
              <a:gd name="adj" fmla="val 2711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37560" y="1234440"/>
            <a:ext cx="2478024" cy="285292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47857"/>
                </a:solidFill>
                <a:latin typeface="Arial"/>
              </a:rPr>
              <a:t>How it solves the problem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1">
                <a:solidFill>
                  <a:srgbClr val="1C1917"/>
                </a:solidFill>
                <a:latin typeface="Arial"/>
              </a:rPr>
              <a:t>Travelers: </a:t>
            </a:r>
            <a:r>
              <a:rPr sz="1100" b="0">
                <a:solidFill>
                  <a:srgbClr val="1C1917"/>
                </a:solidFill>
                <a:latin typeface="Arial"/>
              </a:rPr>
              <a:t>realistic day plans (drive times, boat crossings, far-apart warnings) → a more satisfying trip.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1">
                <a:solidFill>
                  <a:srgbClr val="1C1917"/>
                </a:solidFill>
                <a:latin typeface="Arial"/>
              </a:rPr>
              <a:t>Partners: </a:t>
            </a:r>
            <a:r>
              <a:rPr sz="1100" b="0">
                <a:solidFill>
                  <a:srgbClr val="1C1917"/>
                </a:solidFill>
                <a:latin typeface="Arial"/>
              </a:rPr>
              <a:t>the A–G digital-status grid shows where each needs help; the AI plan turns that into steps they can do this week.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1">
                <a:solidFill>
                  <a:srgbClr val="1C1917"/>
                </a:solidFill>
                <a:latin typeface="Arial"/>
              </a:rPr>
              <a:t>Ecosystem: </a:t>
            </a:r>
            <a:r>
              <a:rPr sz="1100" b="0">
                <a:solidFill>
                  <a:srgbClr val="1C1917"/>
                </a:solidFill>
                <a:latin typeface="Arial"/>
              </a:rPr>
              <a:t>one shared directory joins fragmented local players; discounts and bundles drive cross-selling.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143000"/>
            <a:ext cx="2697480" cy="3017520"/>
          </a:xfrm>
          <a:prstGeom prst="roundRect">
            <a:avLst>
              <a:gd name="adj" fmla="val 2711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27064" y="1234440"/>
            <a:ext cx="2478024" cy="285292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47857"/>
                </a:solidFill>
                <a:latin typeface="Arial"/>
              </a:rPr>
              <a:t>USP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Grounded, verifiable AI: Zod schemas, plan repair, a quality guard, and an honest instant fallback.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Live streaming: users watch the AI think and write.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Memory objects + QR pages: the campaign keeps living after the trip.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100" b="0">
                <a:solidFill>
                  <a:srgbClr val="1C1917"/>
                </a:solidFill>
                <a:latin typeface="Arial"/>
              </a:rPr>
              <a:t>Bilingual (EN / Bahasa), dark &amp; light, WCAG 2.1 AA.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35953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60">
                <a:latin typeface="Verdana"/>
                <a:cs typeface="Verdana"/>
              </a:rPr>
              <a:t>List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of</a:t>
            </a:r>
            <a:r>
              <a:rPr dirty="0" sz="1600" spc="-175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features</a:t>
            </a:r>
            <a:r>
              <a:rPr dirty="0" sz="1600" spc="-175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oﬀered</a:t>
            </a:r>
            <a:r>
              <a:rPr dirty="0" sz="1600" spc="-175">
                <a:latin typeface="Verdana"/>
                <a:cs typeface="Verdana"/>
              </a:rPr>
              <a:t> </a:t>
            </a:r>
            <a:r>
              <a:rPr dirty="0" sz="1600" spc="-85">
                <a:latin typeface="Verdana"/>
                <a:cs typeface="Verdana"/>
              </a:rPr>
              <a:t>by</a:t>
            </a:r>
            <a:r>
              <a:rPr dirty="0" sz="1600" spc="-175">
                <a:latin typeface="Verdana"/>
                <a:cs typeface="Verdana"/>
              </a:rPr>
              <a:t> </a:t>
            </a:r>
            <a:r>
              <a:rPr dirty="0" sz="1600" spc="-65">
                <a:latin typeface="Verdana"/>
                <a:cs typeface="Verdana"/>
              </a:rPr>
              <a:t>the</a:t>
            </a:r>
            <a:r>
              <a:rPr dirty="0" sz="1600" spc="-17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solution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8328" y="1143000"/>
            <a:ext cx="2697480" cy="3429000"/>
          </a:xfrm>
          <a:prstGeom prst="roundRect">
            <a:avLst>
              <a:gd name="adj" fmla="val 2711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48056" y="1234440"/>
            <a:ext cx="2478024" cy="32644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47857"/>
                </a:solidFill>
                <a:latin typeface="Arial"/>
              </a:rPr>
              <a:t>For travelers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Sign-up → family sticker </a:t>
            </a:r>
            <a:r>
              <a:rPr sz="1050" b="0">
                <a:solidFill>
                  <a:srgbClr val="1C1917"/>
                </a:solidFill>
                <a:latin typeface="Arial"/>
              </a:rPr>
              <a:t>(name, home region, “Powered by KOSSI Adventure”)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Trip wizard: </a:t>
            </a:r>
            <a:r>
              <a:rPr sz="1050" b="0">
                <a:solidFill>
                  <a:srgbClr val="1C1917"/>
                </a:solidFill>
                <a:latin typeface="Arial"/>
              </a:rPr>
              <a:t>tap regions on a Bali map, pick experiences, basket auto-filled with partners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AI “Arrange my days”: </a:t>
            </a:r>
            <a:r>
              <a:rPr sz="1050" b="0">
                <a:solidFill>
                  <a:srgbClr val="1C1917"/>
                </a:solidFill>
                <a:latin typeface="Arial"/>
              </a:rPr>
              <a:t>streamed live, coloured routes on the map, drive-time warnings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Quick AI plan: </a:t>
            </a:r>
            <a:r>
              <a:rPr sz="1050" b="0">
                <a:solidFill>
                  <a:srgbClr val="1C1917"/>
                </a:solidFill>
                <a:latin typeface="Arial"/>
              </a:rPr>
              <a:t>a gamified family itinerary with missions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Memory gear: </a:t>
            </a:r>
            <a:r>
              <a:rPr sz="1050" b="0">
                <a:solidFill>
                  <a:srgbClr val="1C1917"/>
                </a:solidFill>
                <a:latin typeface="Arial"/>
              </a:rPr>
              <a:t>sticker on T-shirt / hat / bag with QR patch; order via WhatsApp or email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QR memory page </a:t>
            </a:r>
            <a:r>
              <a:rPr sz="1050" b="0">
                <a:solidFill>
                  <a:srgbClr val="1C1917"/>
                </a:solidFill>
                <a:latin typeface="Arial"/>
              </a:rPr>
              <a:t>for every trip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27832" y="1143000"/>
            <a:ext cx="2697480" cy="3429000"/>
          </a:xfrm>
          <a:prstGeom prst="roundRect">
            <a:avLst>
              <a:gd name="adj" fmla="val 2711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37560" y="1234440"/>
            <a:ext cx="2478024" cy="32644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47857"/>
                </a:solidFill>
                <a:latin typeface="Arial"/>
              </a:rPr>
              <a:t>For partners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Sign-up → Strategic Partner sticker</a:t>
            </a:r>
            <a:r>
              <a:rPr sz="1050" b="0">
                <a:solidFill>
                  <a:srgbClr val="1C1917"/>
                </a:solidFill>
                <a:latin typeface="Arial"/>
              </a:rPr>
              <a:t/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Business profile by taps (A–E): </a:t>
            </a:r>
            <a:r>
              <a:rPr sz="1050" b="0">
                <a:solidFill>
                  <a:srgbClr val="1C1917"/>
                </a:solidFill>
                <a:latin typeface="Arial"/>
              </a:rPr>
              <a:t>type, products, discount, AI help, digital status A–G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AI support plan </a:t>
            </a:r>
            <a:r>
              <a:rPr sz="1050" b="0">
                <a:solidFill>
                  <a:srgbClr val="1C1917"/>
                </a:solidFill>
                <a:latin typeface="Arial"/>
              </a:rPr>
              <a:t>from the “Need help” answers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AI marketing studio: </a:t>
            </a:r>
            <a:r>
              <a:rPr sz="1050" b="0">
                <a:solidFill>
                  <a:srgbClr val="1C1917"/>
                </a:solidFill>
                <a:latin typeface="Arial"/>
              </a:rPr>
              <a:t>grounded profile, social copy, missions → publish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QR counter card </a:t>
            </a:r>
            <a:r>
              <a:rPr sz="1050" b="0">
                <a:solidFill>
                  <a:srgbClr val="1C1917"/>
                </a:solidFill>
                <a:latin typeface="Arial"/>
              </a:rPr>
              <a:t>and staff gear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Listing status: </a:t>
            </a:r>
            <a:r>
              <a:rPr sz="1050" b="0">
                <a:solidFill>
                  <a:srgbClr val="1C1917"/>
                </a:solidFill>
                <a:latin typeface="Arial"/>
              </a:rPr>
              <a:t>published → in review →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143000"/>
            <a:ext cx="2697480" cy="3429000"/>
          </a:xfrm>
          <a:prstGeom prst="roundRect">
            <a:avLst>
              <a:gd name="adj" fmla="val 2711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27064" y="1234440"/>
            <a:ext cx="2478024" cy="32644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047857"/>
                </a:solidFill>
                <a:latin typeface="Arial"/>
              </a:rPr>
              <a:t>Platform &amp; KOSSI team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Admin verification: </a:t>
            </a:r>
            <a:r>
              <a:rPr sz="1050" b="0">
                <a:solidFill>
                  <a:srgbClr val="1C1917"/>
                </a:solidFill>
                <a:latin typeface="Arial"/>
              </a:rPr>
              <a:t>checklist, batches, notes, history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✓ KOSSI Verified badge </a:t>
            </a:r>
            <a:r>
              <a:rPr sz="1050" b="0">
                <a:solidFill>
                  <a:srgbClr val="1C1917"/>
                </a:solidFill>
                <a:latin typeface="Arial"/>
              </a:rPr>
              <a:t>+ “Verified only” filter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Instant planner fallback </a:t>
            </a:r>
            <a:r>
              <a:rPr sz="1050" b="0">
                <a:solidFill>
                  <a:srgbClr val="1C1917"/>
                </a:solidFill>
                <a:latin typeface="Arial"/>
              </a:rPr>
              <a:t>(works with no AI key)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Print-ready files </a:t>
            </a:r>
            <a:r>
              <a:rPr sz="1050" b="0">
                <a:solidFill>
                  <a:srgbClr val="1C1917"/>
                </a:solidFill>
                <a:latin typeface="Arial"/>
              </a:rPr>
              <a:t>(2000 px sticker + QR)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EN / Bahasa </a:t>
            </a:r>
            <a:r>
              <a:rPr sz="1050" b="0">
                <a:solidFill>
                  <a:srgbClr val="1C1917"/>
                </a:solidFill>
                <a:latin typeface="Arial"/>
              </a:rPr>
              <a:t>and dark / light mode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50" b="1">
                <a:solidFill>
                  <a:srgbClr val="1C1917"/>
                </a:solidFill>
                <a:latin typeface="Arial"/>
              </a:rPr>
              <a:t>Accessible: </a:t>
            </a:r>
            <a:r>
              <a:rPr sz="1050" b="0">
                <a:solidFill>
                  <a:srgbClr val="1C1917"/>
                </a:solidFill>
                <a:latin typeface="Arial"/>
              </a:rPr>
              <a:t>keyboard, screen reader, reduced motion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40360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45">
                <a:latin typeface="Verdana"/>
                <a:cs typeface="Verdana"/>
              </a:rPr>
              <a:t>Process</a:t>
            </a:r>
            <a:r>
              <a:rPr dirty="0" sz="1600" spc="-170">
                <a:latin typeface="Verdana"/>
                <a:cs typeface="Verdana"/>
              </a:rPr>
              <a:t> </a:t>
            </a:r>
            <a:r>
              <a:rPr dirty="0" sz="1600" spc="-50">
                <a:latin typeface="Verdana"/>
                <a:cs typeface="Verdana"/>
              </a:rPr>
              <a:t>ﬂow</a:t>
            </a:r>
            <a:r>
              <a:rPr dirty="0" sz="1600" spc="-170">
                <a:latin typeface="Verdana"/>
                <a:cs typeface="Verdana"/>
              </a:rPr>
              <a:t> </a:t>
            </a:r>
            <a:r>
              <a:rPr dirty="0" sz="1600" spc="-80">
                <a:latin typeface="Verdana"/>
                <a:cs typeface="Verdana"/>
              </a:rPr>
              <a:t>diagram</a:t>
            </a:r>
            <a:r>
              <a:rPr dirty="0" sz="1600" spc="-165">
                <a:latin typeface="Verdana"/>
                <a:cs typeface="Verdana"/>
              </a:rPr>
              <a:t> </a:t>
            </a:r>
            <a:r>
              <a:rPr dirty="0" sz="1600" spc="-45">
                <a:latin typeface="Verdana"/>
                <a:cs typeface="Verdana"/>
              </a:rPr>
              <a:t>or</a:t>
            </a:r>
            <a:r>
              <a:rPr dirty="0" sz="1600" spc="-170">
                <a:latin typeface="Verdana"/>
                <a:cs typeface="Verdana"/>
              </a:rPr>
              <a:t> </a:t>
            </a:r>
            <a:r>
              <a:rPr dirty="0" sz="1600" spc="-105">
                <a:latin typeface="Verdana"/>
                <a:cs typeface="Verdana"/>
              </a:rPr>
              <a:t>Use-</a:t>
            </a:r>
            <a:r>
              <a:rPr dirty="0" sz="1600" spc="-45">
                <a:latin typeface="Verdana"/>
                <a:cs typeface="Verdana"/>
              </a:rPr>
              <a:t>case</a:t>
            </a:r>
            <a:r>
              <a:rPr dirty="0" sz="1600" spc="-170">
                <a:latin typeface="Verdana"/>
                <a:cs typeface="Verdana"/>
              </a:rPr>
              <a:t> </a:t>
            </a:r>
            <a:r>
              <a:rPr dirty="0" sz="1600" spc="-30">
                <a:latin typeface="Verdana"/>
                <a:cs typeface="Verdana"/>
              </a:rPr>
              <a:t>diagram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8328" y="10972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Traveler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" y="1371600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38328" y="1371600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47857"/>
                </a:solidFill>
                <a:latin typeface="Arial"/>
              </a:rPr>
              <a:t>1  </a:t>
            </a:r>
            <a:r>
              <a:rPr sz="900" b="1">
                <a:solidFill>
                  <a:srgbClr val="1C1917"/>
                </a:solidFill>
                <a:latin typeface="Arial"/>
              </a:rPr>
              <a:t>Sign up
family sticker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72768" y="1728216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87652" y="1371600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7652" y="1371600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47857"/>
                </a:solidFill>
                <a:latin typeface="Arial"/>
              </a:rPr>
              <a:t>2  </a:t>
            </a:r>
            <a:r>
              <a:rPr sz="900" b="1">
                <a:solidFill>
                  <a:srgbClr val="1C1917"/>
                </a:solidFill>
                <a:latin typeface="Arial"/>
              </a:rPr>
              <a:t>Tap Bali
regions (map)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2092" y="1728216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36976" y="1371600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36976" y="1371600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47857"/>
                </a:solidFill>
                <a:latin typeface="Arial"/>
              </a:rPr>
              <a:t>3  </a:t>
            </a:r>
            <a:r>
              <a:rPr sz="900" b="1">
                <a:solidFill>
                  <a:srgbClr val="1C1917"/>
                </a:solidFill>
                <a:latin typeface="Arial"/>
              </a:rPr>
              <a:t>Pick
experiences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71416" y="1728216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86300" y="1371600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86300" y="1371600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47857"/>
                </a:solidFill>
                <a:latin typeface="Arial"/>
              </a:rPr>
              <a:t>4  </a:t>
            </a:r>
            <a:r>
              <a:rPr sz="900" b="1">
                <a:solidFill>
                  <a:srgbClr val="1C1917"/>
                </a:solidFill>
                <a:latin typeface="Arial"/>
              </a:rPr>
              <a:t>Basket of
local partners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20740" y="1728216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35624" y="1371600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35624" y="1371600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47857"/>
                </a:solidFill>
                <a:latin typeface="Arial"/>
              </a:rPr>
              <a:t>5  </a:t>
            </a:r>
            <a:r>
              <a:rPr sz="900" b="1">
                <a:solidFill>
                  <a:srgbClr val="1C1917"/>
                </a:solidFill>
                <a:latin typeface="Arial"/>
              </a:rPr>
              <a:t>Gemini arranges
days + map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70063" y="1728216"/>
            <a:ext cx="196597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4948" y="1371600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84948" y="1371600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47857"/>
                </a:solidFill>
                <a:latin typeface="Arial"/>
              </a:rPr>
              <a:t>6  </a:t>
            </a:r>
            <a:r>
              <a:rPr sz="900" b="1">
                <a:solidFill>
                  <a:srgbClr val="1C1917"/>
                </a:solidFill>
                <a:latin typeface="Arial"/>
              </a:rPr>
              <a:t>Memory gear
+ QR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08152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Arial"/>
              </a:rPr>
              <a:t>Partner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" y="3355848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8328" y="3355848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1  </a:t>
            </a:r>
            <a:r>
              <a:rPr sz="900" b="1">
                <a:solidFill>
                  <a:srgbClr val="1C1917"/>
                </a:solidFill>
                <a:latin typeface="Arial"/>
              </a:rPr>
              <a:t>Sign up
partner sticker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72768" y="3712463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787652" y="3355848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787652" y="3355848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2  </a:t>
            </a:r>
            <a:r>
              <a:rPr sz="900" b="1">
                <a:solidFill>
                  <a:srgbClr val="1C1917"/>
                </a:solidFill>
                <a:latin typeface="Arial"/>
              </a:rPr>
              <a:t>Tap menus A–E
(profile, digital)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22092" y="3712463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36976" y="3355848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236976" y="3355848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3  </a:t>
            </a:r>
            <a:r>
              <a:rPr sz="900" b="1">
                <a:solidFill>
                  <a:srgbClr val="1C1917"/>
                </a:solidFill>
                <a:latin typeface="Arial"/>
              </a:rPr>
              <a:t>AI support
plan (streamed)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71416" y="3712463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86300" y="3355848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86300" y="3355848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4  </a:t>
            </a:r>
            <a:r>
              <a:rPr sz="900" b="1">
                <a:solidFill>
                  <a:srgbClr val="1C1917"/>
                </a:solidFill>
                <a:latin typeface="Arial"/>
              </a:rPr>
              <a:t>AI studio →
publish listing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20740" y="3712463"/>
            <a:ext cx="19659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35624" y="3355848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135624" y="3355848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5  </a:t>
            </a:r>
            <a:r>
              <a:rPr sz="900" b="1">
                <a:solidFill>
                  <a:srgbClr val="1C1917"/>
                </a:solidFill>
                <a:latin typeface="Arial"/>
              </a:rPr>
              <a:t>KOSSI admin
reviews batch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70063" y="3712463"/>
            <a:ext cx="196597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584948" y="3355848"/>
            <a:ext cx="1216152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84948" y="3355848"/>
            <a:ext cx="1216152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6  </a:t>
            </a:r>
            <a:r>
              <a:rPr sz="900" b="1">
                <a:solidFill>
                  <a:srgbClr val="1C1917"/>
                </a:solidFill>
                <a:latin typeface="Arial"/>
              </a:rPr>
              <a:t>✓ Verified badge
+ QR counter card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" y="2331720"/>
            <a:ext cx="8467344" cy="530352"/>
          </a:xfrm>
          <a:prstGeom prst="roundRect">
            <a:avLst>
              <a:gd name="adj" fmla="val 13793"/>
            </a:avLst>
          </a:prstGeom>
          <a:solidFill>
            <a:srgbClr val="F5F5F4"/>
          </a:solidFill>
          <a:ln w="9525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57200" y="2331720"/>
            <a:ext cx="822960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C1917"/>
                </a:solidFill>
                <a:latin typeface="Arial"/>
              </a:rPr>
              <a:t>Shared ecosystem  </a:t>
            </a:r>
            <a:r>
              <a:rPr sz="950" b="0">
                <a:solidFill>
                  <a:srgbClr val="57534E"/>
                </a:solidFill>
                <a:latin typeface="Arial"/>
              </a:rPr>
              <a:t>partner directory + verification status (server store) · Gemini via Google Gen AI SDK · validated, streamed answers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294376" y="2880360"/>
            <a:ext cx="0" cy="475488"/>
          </a:xfrm>
          <a:prstGeom prst="line">
            <a:avLst/>
          </a:prstGeom>
          <a:ln w="15875">
            <a:solidFill>
              <a:srgbClr val="0478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294376" y="2103120"/>
            <a:ext cx="0" cy="228600"/>
          </a:xfrm>
          <a:prstGeom prst="line">
            <a:avLst/>
          </a:prstGeom>
          <a:ln w="15875">
            <a:solidFill>
              <a:srgbClr val="0478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38328" y="4206240"/>
            <a:ext cx="8467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1C1917"/>
                </a:solidFill>
                <a:latin typeface="Arial"/>
              </a:rPr>
              <a:t>Inside step 5 (traveler): </a:t>
            </a:r>
            <a:r>
              <a:rPr sz="950" b="0">
                <a:solidFill>
                  <a:srgbClr val="1C1917"/>
                </a:solidFill>
                <a:latin typeface="Arial"/>
              </a:rPr>
              <a:t>basket → Zod-validated request → Gemini streams JSON (thoughts + answer) → schema check → plan repair (every stop exactly once) → quality guard (if AI driving time &gt; 1.5× the instant plan + 60 min, the instant plan is used, honestly labelled).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47857"/>
                </a:solidFill>
                <a:latin typeface="Arial"/>
              </a:rPr>
              <a:t>Dashed line: </a:t>
            </a:r>
            <a:r>
              <a:rPr sz="950" b="0">
                <a:solidFill>
                  <a:srgbClr val="1C1917"/>
                </a:solidFill>
                <a:latin typeface="Arial"/>
              </a:rPr>
              <a:t>a published partner appears in travelers’ baskets at once as “Not yet verified”, and gets the ✓ badge after the KOSSI team verifies the batch.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59588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65">
                <a:latin typeface="Verdana"/>
                <a:cs typeface="Verdana"/>
              </a:rPr>
              <a:t>Wireframes/Mock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80">
                <a:latin typeface="Verdana"/>
                <a:cs typeface="Verdana"/>
              </a:rPr>
              <a:t>diagrams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of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65">
                <a:latin typeface="Verdana"/>
                <a:cs typeface="Verdana"/>
              </a:rPr>
              <a:t>the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45">
                <a:latin typeface="Verdana"/>
                <a:cs typeface="Verdana"/>
              </a:rPr>
              <a:t>proposed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60">
                <a:latin typeface="Verdana"/>
                <a:cs typeface="Verdana"/>
              </a:rPr>
              <a:t>solution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35">
                <a:latin typeface="Verdana"/>
                <a:cs typeface="Verdana"/>
              </a:rPr>
              <a:t>(optional)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8328" y="1033271"/>
            <a:ext cx="8467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7534E"/>
                </a:solidFill>
                <a:latin typeface="Arial"/>
              </a:rPr>
              <a:t>Memory objects generated by the app: live product mock-ups, the print-ready file sent to the printing partner, and a partner’s counter card.</a:t>
            </a:r>
          </a:p>
        </p:txBody>
      </p:sp>
      <p:pic>
        <p:nvPicPr>
          <p:cNvPr id="4" name="Picture 3" descr="m-shi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417320"/>
            <a:ext cx="2452374" cy="2194560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38328" y="3657600"/>
            <a:ext cx="24523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T-shirt mock-up (5 colours, QR patch)</a:t>
            </a:r>
          </a:p>
        </p:txBody>
      </p:sp>
      <p:pic>
        <p:nvPicPr>
          <p:cNvPr id="6" name="Picture 5" descr="m-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862" y="1417320"/>
            <a:ext cx="2462189" cy="2194560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927862" y="3657600"/>
            <a:ext cx="24621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Hat mock-up (drawstring bag too)</a:t>
            </a:r>
          </a:p>
        </p:txBody>
      </p:sp>
      <p:pic>
        <p:nvPicPr>
          <p:cNvPr id="8" name="Picture 7" descr="print-she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211" y="1417320"/>
            <a:ext cx="1590261" cy="2194560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527211" y="3657600"/>
            <a:ext cx="159026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Print file: 2000 px sticker + QR + order</a:t>
            </a:r>
          </a:p>
        </p:txBody>
      </p:sp>
      <p:pic>
        <p:nvPicPr>
          <p:cNvPr id="10" name="Picture 9" descr="counter-c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632" y="1417320"/>
            <a:ext cx="1556426" cy="2194560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254632" y="3657600"/>
            <a:ext cx="1556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Partner QR counter card (A6)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4114800"/>
            <a:ext cx="84673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46304" indent="-118872">
              <a:spcAft>
                <a:spcPts val="300"/>
              </a:spcAft>
              <a:buChar char="•"/>
            </a:pPr>
            <a:r>
              <a:rPr sz="1000" b="1">
                <a:solidFill>
                  <a:srgbClr val="1C1917"/>
                </a:solidFill>
                <a:latin typeface="Arial"/>
              </a:rPr>
              <a:t>Sticker: </a:t>
            </a:r>
            <a:r>
              <a:rPr sz="1000" b="0">
                <a:solidFill>
                  <a:srgbClr val="1C1917"/>
                </a:solidFill>
                <a:latin typeface="Arial"/>
              </a:rPr>
              <a:t>drawn on canvas in a 1000-unit design space, so the screen preview and the 2000 px print file are identical.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00" b="1">
                <a:solidFill>
                  <a:srgbClr val="1C1917"/>
                </a:solidFill>
                <a:latin typeface="Arial"/>
              </a:rPr>
              <a:t>QR: </a:t>
            </a:r>
            <a:r>
              <a:rPr sz="1000" b="0">
                <a:solidFill>
                  <a:srgbClr val="1C1917"/>
                </a:solidFill>
                <a:latin typeface="Arial"/>
              </a:rPr>
              <a:t>the memory is packed into the link itself (no database lookup), error-correction level M for printed fabric; verified by decoding the QR from the print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43980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Verdana"/>
                <a:cs typeface="Verdana"/>
              </a:rPr>
              <a:t>Architecture</a:t>
            </a:r>
            <a:r>
              <a:rPr dirty="0" sz="1600" spc="-165">
                <a:latin typeface="Verdana"/>
                <a:cs typeface="Verdana"/>
              </a:rPr>
              <a:t> </a:t>
            </a:r>
            <a:r>
              <a:rPr dirty="0" sz="1600" spc="-80">
                <a:latin typeface="Verdana"/>
                <a:cs typeface="Verdana"/>
              </a:rPr>
              <a:t>diagram</a:t>
            </a:r>
            <a:r>
              <a:rPr dirty="0" sz="1600" spc="-16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of</a:t>
            </a:r>
            <a:r>
              <a:rPr dirty="0" sz="1600" spc="-165">
                <a:latin typeface="Verdana"/>
                <a:cs typeface="Verdana"/>
              </a:rPr>
              <a:t> </a:t>
            </a:r>
            <a:r>
              <a:rPr dirty="0" sz="1600" spc="-65">
                <a:latin typeface="Verdana"/>
                <a:cs typeface="Verdana"/>
              </a:rPr>
              <a:t>the</a:t>
            </a:r>
            <a:r>
              <a:rPr dirty="0" sz="1600" spc="-160">
                <a:latin typeface="Verdana"/>
                <a:cs typeface="Verdana"/>
              </a:rPr>
              <a:t> </a:t>
            </a:r>
            <a:r>
              <a:rPr dirty="0" sz="1600" spc="-45">
                <a:latin typeface="Verdana"/>
                <a:cs typeface="Verdana"/>
              </a:rPr>
              <a:t>proposed</a:t>
            </a:r>
            <a:r>
              <a:rPr dirty="0" sz="1600" spc="-16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solution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8328" y="1097280"/>
            <a:ext cx="1691640" cy="2971800"/>
          </a:xfrm>
          <a:prstGeom prst="roundRect">
            <a:avLst>
              <a:gd name="adj" fmla="val 4324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9768" y="1161288"/>
            <a:ext cx="15544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Clients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Traveler (web, mobile)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Partner (web, mobile)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KOSSI admin (/admin)</a:t>
            </a:r>
          </a:p>
          <a:p>
            <a:pPr marL="146304" indent="-118872">
              <a:spcAft>
                <a:spcPts val="8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Anyone scanning a QR (/m/…)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C1917"/>
                </a:solidFill>
                <a:latin typeface="Arial"/>
              </a:rPr>
              <a:t>In the browser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Session store (tabs keep state)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Accounts, theme, language: localStorage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Canvas sticker + QR rendering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97280"/>
            <a:ext cx="3246120" cy="2971800"/>
          </a:xfrm>
          <a:prstGeom prst="roundRect">
            <a:avLst>
              <a:gd name="adj" fmla="val 2461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377440" y="116128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Next.js 16 app (Node server)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1481328"/>
            <a:ext cx="3026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468880" y="150876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C1917"/>
                </a:solidFill>
                <a:latin typeface="Arial"/>
              </a:rPr>
              <a:t>UI · React 19 client components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Trip wizard · Bali SVG map · partner menus · merch designer · memory pages ·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2441448"/>
            <a:ext cx="302666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D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C1917"/>
                </a:solidFill>
                <a:latin typeface="Arial"/>
              </a:rPr>
              <a:t>API route handlers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Streaming (NDJSON): </a:t>
            </a:r>
            <a:r>
              <a:rPr sz="900" b="0">
                <a:solidFill>
                  <a:srgbClr val="1C1917"/>
                </a:solidFill>
                <a:latin typeface="Arial"/>
              </a:rPr>
              <a:t>/api/traveler · /api/trip-plan · /api/partner-assistant · /api/partner-support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Directory: </a:t>
            </a:r>
            <a:r>
              <a:rPr sz="900" b="0">
                <a:solidFill>
                  <a:srgbClr val="1C1917"/>
                </a:solidFill>
                <a:latin typeface="Arial"/>
              </a:rPr>
              <a:t>/api/partners (GET / publish)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Admin: </a:t>
            </a:r>
            <a:r>
              <a:rPr sz="900" b="0">
                <a:solidFill>
                  <a:srgbClr val="1C1917"/>
                </a:solidFill>
                <a:latin typeface="Arial"/>
              </a:rPr>
              <a:t>/api/admin/session · /api/admin/partners (HMAC-signed cookie)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097280"/>
            <a:ext cx="2999232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97880" y="115214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047857"/>
                </a:solidFill>
                <a:latin typeface="Arial"/>
              </a:rPr>
              <a:t>Google Gemini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Gen AI SDK · gemini-3.5-flash-lite, fallback 3.1-flash-lite · JSON schema output · streaming with thoughts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103120"/>
            <a:ext cx="2999232" cy="9144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97880" y="215798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047857"/>
                </a:solidFill>
                <a:latin typeface="Arial"/>
              </a:rPr>
              <a:t>Partner store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Server JSON file, atomic writes, one writer at a time → Firestore-ready (one module)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108960"/>
            <a:ext cx="2999232" cy="9144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97880" y="316382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047857"/>
                </a:solidFill>
                <a:latin typeface="Arial"/>
              </a:rPr>
              <a:t>Printing partner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7534E"/>
                </a:solidFill>
                <a:latin typeface="Arial"/>
              </a:rPr>
              <a:t>WhatsApp / email deep links with the order + memory link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48256" y="2194560"/>
            <a:ext cx="219456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50408" y="1554480"/>
            <a:ext cx="237744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50408" y="2560320"/>
            <a:ext cx="237744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50408" y="3566160"/>
            <a:ext cx="237744" cy="0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8328" y="4206240"/>
            <a:ext cx="8467344" cy="685800"/>
          </a:xfrm>
          <a:prstGeom prst="roundRect">
            <a:avLst>
              <a:gd name="adj" fmla="val 1066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Trust &amp; safety layer  </a:t>
            </a:r>
            <a:r>
              <a:rPr sz="900" b="0">
                <a:solidFill>
                  <a:srgbClr val="1C1917"/>
                </a:solidFill>
                <a:latin typeface="Arial"/>
              </a:rPr>
              <a:t>Zod request validation · Zod → JSON schema for Gemini · partial-JSON live rendering · final schema check · plan repair · quality guard · thinking-setting fallback on 400 errors · retry on the fallback model · deterministic instant plans when AI is off or wrong (labelled honestly)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36703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70">
                <a:latin typeface="Verdana"/>
                <a:cs typeface="Verdana"/>
              </a:rPr>
              <a:t>Technologies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to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40">
                <a:latin typeface="Verdana"/>
                <a:cs typeface="Verdana"/>
              </a:rPr>
              <a:t>be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used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75">
                <a:latin typeface="Verdana"/>
                <a:cs typeface="Verdana"/>
              </a:rPr>
              <a:t>in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65">
                <a:latin typeface="Verdana"/>
                <a:cs typeface="Verdana"/>
              </a:rPr>
              <a:t>the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solution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8328" y="1115568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48056" y="1207008"/>
            <a:ext cx="2478024" cy="1645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Frontend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Next.js 16.4 (App Router, Cache Components, standalone output)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React 19.3 · TypeScript 5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Tailwind CSS 4 · lucide icons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Atkinson Hyperlegible Next (accessible font) + Pacifico (sticker)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27832" y="1115568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37560" y="1207008"/>
            <a:ext cx="2478024" cy="1645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AI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Google Gen AI SDK (@google/genai 2.29)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Gemini 3.5 Flash-Lite, fallback Gemini 3.1 Flash-Lite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Structured JSON output (responseJsonSchema)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Streaming + reasoning summaries (thinkingConfig)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115568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27064" y="1207008"/>
            <a:ext cx="2478024" cy="1645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Data &amp; validation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Zod 4: request and response schemas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NDJSON streaming protocol + partial-JSON parser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Server JSON store (atomic writes), Firestore-ready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HMAC-signed admin session cookie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" y="3054096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8056" y="3145536"/>
            <a:ext cx="2478024" cy="1645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Maps, media, print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Self-contained SVG Bali map from geoBoundaries ADM2 (CC BY 4.0), 9 regencies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HTML canvas sticker renderer (2000 px PNG)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qrcode library (QR on screen, gear, print files)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WhatsApp / mailto deep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3054096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37560" y="3145536"/>
            <a:ext cx="2478024" cy="1645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Planning engine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Haversine × 1.4 road factor at 28 km/h, +60 min boat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k-means day grouping with boat penalty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Nearest-neighbour day routes, travel warnings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3054096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27064" y="3145536"/>
            <a:ext cx="2478024" cy="1645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Quality &amp; tooling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Playwright end-to-end tests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axe-core accessibility audits (WCAG 2.1 AA)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00" b="0">
                <a:solidFill>
                  <a:srgbClr val="1C1917"/>
                </a:solidFill>
                <a:latin typeface="Arial"/>
              </a:rPr>
              <a:t>ESLint · tsc · fake Gemini server for offline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39255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70">
                <a:latin typeface="Verdana"/>
                <a:cs typeface="Verdana"/>
              </a:rPr>
              <a:t>Estimated</a:t>
            </a:r>
            <a:r>
              <a:rPr dirty="0" sz="1600" spc="-16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implementation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30">
                <a:latin typeface="Verdana"/>
                <a:cs typeface="Verdana"/>
              </a:rPr>
              <a:t>cost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50">
                <a:latin typeface="Verdana"/>
                <a:cs typeface="Verdana"/>
              </a:rPr>
              <a:t>(optional)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26060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85">
                <a:latin typeface="Verdana"/>
                <a:cs typeface="Verdana"/>
              </a:rPr>
              <a:t>Snapshots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of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65">
                <a:latin typeface="Verdana"/>
                <a:cs typeface="Verdana"/>
              </a:rPr>
              <a:t>the</a:t>
            </a:r>
            <a:r>
              <a:rPr dirty="0" sz="1600" spc="-18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prototype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3" name="Picture 2" descr="02-reg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24128"/>
            <a:ext cx="2697480" cy="1685925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38328" y="2737485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1 · Tap regions on the Bali map</a:t>
            </a:r>
          </a:p>
        </p:txBody>
      </p:sp>
      <p:pic>
        <p:nvPicPr>
          <p:cNvPr id="5" name="Picture 4" descr="04-stream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1024128"/>
            <a:ext cx="2697480" cy="1685925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227832" y="2737485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2 · AI streams the plan live</a:t>
            </a:r>
          </a:p>
        </p:txBody>
      </p:sp>
      <p:pic>
        <p:nvPicPr>
          <p:cNvPr id="7" name="Picture 6" descr="05-pl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024128"/>
            <a:ext cx="2697480" cy="1685925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17336" y="2737485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3 · Days, routes and drive times</a:t>
            </a:r>
          </a:p>
        </p:txBody>
      </p:sp>
      <p:pic>
        <p:nvPicPr>
          <p:cNvPr id="9" name="Picture 8" descr="07-memor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011805"/>
            <a:ext cx="2697480" cy="1685925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38328" y="4725162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4 · QR memory page</a:t>
            </a:r>
          </a:p>
        </p:txBody>
      </p:sp>
      <p:pic>
        <p:nvPicPr>
          <p:cNvPr id="11" name="Picture 10" descr="09-support-pl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3011805"/>
            <a:ext cx="2697480" cy="1685925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227832" y="4725162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5 · Partner AI support plan</a:t>
            </a:r>
          </a:p>
        </p:txBody>
      </p:sp>
      <p:pic>
        <p:nvPicPr>
          <p:cNvPr id="13" name="Picture 12" descr="10-admi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3011805"/>
            <a:ext cx="2697480" cy="1685925"/>
          </a:xfrm>
          <a:prstGeom prst="rect">
            <a:avLst/>
          </a:prstGeom>
          <a:ln w="9525">
            <a:solidFill>
              <a:srgbClr val="D6D3D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117336" y="4725162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1C1917"/>
                </a:solidFill>
                <a:latin typeface="Arial"/>
              </a:rPr>
              <a:t>6 · KOSSI admin verification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43230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Verdana"/>
                <a:cs typeface="Verdana"/>
              </a:rPr>
              <a:t>Prototype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Performance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60">
                <a:latin typeface="Verdana"/>
                <a:cs typeface="Verdana"/>
              </a:rPr>
              <a:t>report/Benchmarking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8328" y="1115568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9768" y="1161288"/>
            <a:ext cx="1810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047857"/>
                </a:solidFill>
                <a:latin typeface="Arial"/>
              </a:rPr>
              <a:t>0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C1917"/>
                </a:solidFill>
                <a:latin typeface="Arial"/>
              </a:rPr>
              <a:t>accessibility violations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57534E"/>
                </a:solidFill>
                <a:latin typeface="Arial"/>
              </a:rPr>
              <a:t>axe-core, WCAG 2.1 AA, 17 screens in dark and light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6312" y="1115568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587752" y="1161288"/>
            <a:ext cx="1810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047857"/>
                </a:solidFill>
                <a:latin typeface="Arial"/>
              </a:rPr>
              <a:t>0.2 ms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C1917"/>
                </a:solidFill>
                <a:latin typeface="Arial"/>
              </a:rPr>
              <a:t>instant trip planner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57534E"/>
                </a:solidFill>
                <a:latin typeface="Arial"/>
              </a:rPr>
              <a:t>17 stops into 7 days (k-means + routes), used when AI is 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1115568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45736" y="1161288"/>
            <a:ext cx="1810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047857"/>
                </a:solidFill>
                <a:latin typeface="Arial"/>
              </a:rPr>
              <a:t>57 µs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C1917"/>
                </a:solidFill>
                <a:latin typeface="Arial"/>
              </a:rPr>
              <a:t>per live UI update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57534E"/>
                </a:solidFill>
                <a:latin typeface="Arial"/>
              </a:rPr>
              <a:t>partial-JSON parse of each streamed chunk (691 updates)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115568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03720" y="1161288"/>
            <a:ext cx="1810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047857"/>
                </a:solidFill>
                <a:latin typeface="Arial"/>
              </a:rPr>
              <a:t>QR v10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C1917"/>
                </a:solidFill>
                <a:latin typeface="Arial"/>
              </a:rPr>
              <a:t>memory link, 198 chars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57534E"/>
                </a:solidFill>
                <a:latin typeface="Arial"/>
              </a:rPr>
              <a:t>57×57 modules, error correction M; decoded from print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651760"/>
            <a:ext cx="411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Reliability tests (fake Gemini server)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AI plan accepted, validated and repaired (missing stop placed on the nearest day)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Clumsy AI plan rejected by the quality guard → shorter instant plan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Primary model down → automatic retry on the fallback model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Broken JSON → honest fallback, no invented partners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Model rejects thinking settings (400) → simpler settings, cached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414223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Page load (local production build, Chromium)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Landing: first byte 53 ms · DOM ready 178 ms · loaded 262 ms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1C1917"/>
                </a:solidFill>
                <a:latin typeface="Arial"/>
              </a:rPr>
              <a:t>Traveler / partner / admin pages: DOM ready under 80 ms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1">
                <a:solidFill>
                  <a:srgbClr val="1C1917"/>
                </a:solidFill>
                <a:latin typeface="Arial"/>
              </a:rPr>
              <a:t>Speed changes: </a:t>
            </a:r>
            <a:r>
              <a:rPr sz="950" b="0">
                <a:solidFill>
                  <a:srgbClr val="1C1917"/>
                </a:solidFill>
                <a:latin typeface="Arial"/>
              </a:rPr>
              <a:t>Flash-Lite model, minimal thinking, 25–60 s timeouts, and streaming — users see the first words within seconds instead of waiting for the whole answer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1">
                <a:solidFill>
                  <a:srgbClr val="1C1917"/>
                </a:solidFill>
                <a:latin typeface="Arial"/>
              </a:rPr>
              <a:t>Phone width: </a:t>
            </a:r>
            <a:r>
              <a:rPr sz="950" b="0">
                <a:solidFill>
                  <a:srgbClr val="1C1917"/>
                </a:solidFill>
                <a:latin typeface="Arial"/>
              </a:rPr>
              <a:t>no horizontal scrolling on any screen (390 px)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75" y="728722"/>
            <a:ext cx="43586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5">
                <a:latin typeface="Verdana"/>
                <a:cs typeface="Verdana"/>
              </a:rPr>
              <a:t>Additional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85">
                <a:latin typeface="Verdana"/>
                <a:cs typeface="Verdana"/>
              </a:rPr>
              <a:t>Details/Future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75">
                <a:latin typeface="Verdana"/>
                <a:cs typeface="Verdana"/>
              </a:rPr>
              <a:t>Development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75">
                <a:latin typeface="Verdana"/>
                <a:cs typeface="Verdana"/>
              </a:rPr>
              <a:t>(if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any)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8328" y="114300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48056" y="1234440"/>
            <a:ext cx="3941063" cy="2761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47857"/>
                </a:solidFill>
                <a:latin typeface="Arial"/>
              </a:rPr>
              <a:t>Next (pilot in Bali)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Move the partner store to Firestore; individual admin accounts with roles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Photo and video uploads to QR memory pages (Cloud Storage), organised like a library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Order tracking with the printing partner, online payment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Partner insights: QR scans, trip inclusions, traveler types (“backyard”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45152" y="114300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941063" cy="2761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47857"/>
                </a:solidFill>
                <a:latin typeface="Arial"/>
              </a:rPr>
              <a:t>Later (campaign growth)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Traveler credentials: verified adventure badges (nature, culture, culinary) — a “LinkedIn for adventure”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Sell authentic trip photos and videos online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Discount vouchers and destinations across Indonesia; a new creative campaign every year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250" b="0">
                <a:solidFill>
                  <a:srgbClr val="1C1917"/>
                </a:solidFill>
                <a:latin typeface="Arial"/>
              </a:rPr>
              <a:t>Partner bundles and cross-selling suggested by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Provide</a:t>
            </a:r>
            <a:r>
              <a:rPr dirty="0" spc="-170"/>
              <a:t> </a:t>
            </a:r>
            <a:r>
              <a:rPr dirty="0" spc="-85"/>
              <a:t>links</a:t>
            </a:r>
            <a:r>
              <a:rPr dirty="0" spc="-170"/>
              <a:t> </a:t>
            </a:r>
            <a:r>
              <a:rPr dirty="0" spc="-25"/>
              <a:t>to</a:t>
            </a:r>
            <a:r>
              <a:rPr dirty="0" spc="-170"/>
              <a:t> </a:t>
            </a:r>
            <a:r>
              <a:rPr dirty="0" spc="-100"/>
              <a:t>your: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643" y="1217417"/>
            <a:ext cx="270891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45">
                <a:latin typeface="Verdana"/>
                <a:cs typeface="Verdana"/>
              </a:rPr>
              <a:t>GitHub</a:t>
            </a:r>
            <a:r>
              <a:rPr dirty="0" sz="1400" spc="-135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Public</a:t>
            </a:r>
            <a:r>
              <a:rPr dirty="0" sz="1400" spc="-13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Repository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buFont typeface="Arial"/>
              <a:buChar char="●"/>
              <a:tabLst>
                <a:tab pos="347980" algn="l"/>
              </a:tabLst>
            </a:pPr>
            <a:r>
              <a:rPr dirty="0" sz="1400" spc="-75">
                <a:latin typeface="Verdana"/>
                <a:cs typeface="Verdana"/>
              </a:rPr>
              <a:t>Demo</a:t>
            </a:r>
            <a:r>
              <a:rPr dirty="0" sz="1400" spc="-165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Video</a:t>
            </a:r>
            <a:r>
              <a:rPr dirty="0" sz="1400" spc="-160">
                <a:latin typeface="Verdana"/>
                <a:cs typeface="Verdana"/>
              </a:rPr>
              <a:t> </a:t>
            </a:r>
            <a:r>
              <a:rPr dirty="0" sz="1400" spc="-70">
                <a:latin typeface="Verdana"/>
                <a:cs typeface="Verdana"/>
              </a:rPr>
              <a:t>Link</a:t>
            </a:r>
            <a:r>
              <a:rPr dirty="0" sz="1400" spc="-155">
                <a:latin typeface="Verdana"/>
                <a:cs typeface="Verdana"/>
              </a:rPr>
              <a:t> </a:t>
            </a:r>
            <a:r>
              <a:rPr dirty="0" sz="1400" spc="-150">
                <a:latin typeface="Verdana"/>
                <a:cs typeface="Verdana"/>
              </a:rPr>
              <a:t>(3</a:t>
            </a:r>
            <a:r>
              <a:rPr dirty="0" sz="1400" spc="-155">
                <a:latin typeface="Verdana"/>
                <a:cs typeface="Verdana"/>
              </a:rPr>
              <a:t> </a:t>
            </a:r>
            <a:r>
              <a:rPr dirty="0" sz="1400" spc="-30">
                <a:latin typeface="Verdana"/>
                <a:cs typeface="Verdana"/>
              </a:rPr>
              <a:t>Minutes)</a:t>
            </a:r>
            <a:endParaRPr sz="14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buFont typeface="Arial"/>
              <a:buChar char="●"/>
              <a:tabLst>
                <a:tab pos="347980" algn="l"/>
              </a:tabLst>
            </a:pPr>
            <a:r>
              <a:rPr dirty="0" sz="1400" spc="-65">
                <a:latin typeface="Verdana"/>
                <a:cs typeface="Verdana"/>
              </a:rPr>
              <a:t>Final</a:t>
            </a:r>
            <a:r>
              <a:rPr dirty="0" sz="1400" spc="-135">
                <a:latin typeface="Verdana"/>
                <a:cs typeface="Verdana"/>
              </a:rPr>
              <a:t> </a:t>
            </a:r>
            <a:r>
              <a:rPr dirty="0" sz="1400" spc="-40">
                <a:latin typeface="Verdana"/>
                <a:cs typeface="Verdana"/>
              </a:rPr>
              <a:t>Product</a:t>
            </a:r>
            <a:r>
              <a:rPr dirty="0" sz="1400" spc="-135">
                <a:latin typeface="Verdana"/>
                <a:cs typeface="Verdana"/>
              </a:rPr>
              <a:t> </a:t>
            </a:r>
            <a:r>
              <a:rPr dirty="0" sz="1400" spc="-20">
                <a:latin typeface="Verdana"/>
                <a:cs typeface="Verdana"/>
              </a:rPr>
              <a:t>Link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095" y="798339"/>
            <a:ext cx="9135110" cy="198120"/>
          </a:xfrm>
          <a:custGeom>
            <a:avLst/>
            <a:gdLst/>
            <a:ahLst/>
            <a:cxnLst/>
            <a:rect l="l" t="t" r="r" b="b"/>
            <a:pathLst>
              <a:path w="9135110" h="198119">
                <a:moveTo>
                  <a:pt x="9134856" y="198120"/>
                </a:moveTo>
                <a:lnTo>
                  <a:pt x="0" y="198120"/>
                </a:lnTo>
                <a:lnTo>
                  <a:pt x="0" y="0"/>
                </a:lnTo>
                <a:lnTo>
                  <a:pt x="9134856" y="0"/>
                </a:lnTo>
                <a:lnTo>
                  <a:pt x="9134856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99317" y="734854"/>
            <a:ext cx="12268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Google</a:t>
            </a: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1390" y="734854"/>
            <a:ext cx="4603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6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65">
                <a:solidFill>
                  <a:srgbClr val="FFFFFF"/>
                </a:solidFill>
                <a:latin typeface="Arial"/>
                <a:cs typeface="Arial"/>
              </a:rPr>
              <a:t>i?-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É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1188368"/>
            <a:ext cx="9137904" cy="1249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Submission Template | AI Builder Cup</dc:title>
  <dcterms:created xsi:type="dcterms:W3CDTF">2026-10-17T01:33:55Z</dcterms:created>
  <dcterms:modified xsi:type="dcterms:W3CDTF">2026-10-17T01:33:55Z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2026-10-17T00:00:00Z</vt:filetime>
  </property>
  <property fmtid="{D5CDD505-2E9C-101B-9397-08002B2CF9AE}" pid="4" name="Creator">
    <vt:lpwstr>Google</vt:lpwstr>
  </property>
  <property fmtid="{D5CDD505-2E9C-101B-9397-08002B2CF9AE}" pid="5" name="LastSaved">
    <vt:filetime>2026-10-17T00:00:00Z</vt:filetime>
  </property>
</Properties>
</file>